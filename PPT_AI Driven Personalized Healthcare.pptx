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12192000" cy="6858000"/>
  <p:embeddedFontLst>
    <p:embeddedFont>
      <p:font typeface="Arial Black" panose="020B0A04020102020204" pitchFamily="34" charset="0"/>
      <p:regular r:id="rId20"/>
      <p:bold r:id="rId21"/>
    </p:embeddedFont>
    <p:embeddedFont>
      <p:font typeface="Trebuchet MS" panose="020B0603020202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8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5990BF87-A7EE-AF34-AEB2-F2A73FE74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>
            <a:extLst>
              <a:ext uri="{FF2B5EF4-FFF2-40B4-BE49-F238E27FC236}">
                <a16:creationId xmlns:a16="http://schemas.microsoft.com/office/drawing/2014/main" id="{68229B6B-5326-B999-16DC-C60172639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:notes">
            <a:extLst>
              <a:ext uri="{FF2B5EF4-FFF2-40B4-BE49-F238E27FC236}">
                <a16:creationId xmlns:a16="http://schemas.microsoft.com/office/drawing/2014/main" id="{53C10AF6-AF08-16BD-189A-043F9B9229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7106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13C8EF6-ACC2-6921-71F6-A1C4C9357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>
            <a:extLst>
              <a:ext uri="{FF2B5EF4-FFF2-40B4-BE49-F238E27FC236}">
                <a16:creationId xmlns:a16="http://schemas.microsoft.com/office/drawing/2014/main" id="{8E98D2E8-B8F4-0489-CE30-B97AD8FCA5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:notes">
            <a:extLst>
              <a:ext uri="{FF2B5EF4-FFF2-40B4-BE49-F238E27FC236}">
                <a16:creationId xmlns:a16="http://schemas.microsoft.com/office/drawing/2014/main" id="{54E0BF91-9F3C-12A2-B552-2AFBF9FCC6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1923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20F410D-2AF1-2453-040F-515B1473B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>
            <a:extLst>
              <a:ext uri="{FF2B5EF4-FFF2-40B4-BE49-F238E27FC236}">
                <a16:creationId xmlns:a16="http://schemas.microsoft.com/office/drawing/2014/main" id="{3D5EB8DC-8C29-D566-AFB1-237980D2C1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:notes">
            <a:extLst>
              <a:ext uri="{FF2B5EF4-FFF2-40B4-BE49-F238E27FC236}">
                <a16:creationId xmlns:a16="http://schemas.microsoft.com/office/drawing/2014/main" id="{A5D0173E-AA24-F290-9D9D-10AD0BE032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69039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B74095D-D3CF-8CFA-5F08-2D7D24878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>
            <a:extLst>
              <a:ext uri="{FF2B5EF4-FFF2-40B4-BE49-F238E27FC236}">
                <a16:creationId xmlns:a16="http://schemas.microsoft.com/office/drawing/2014/main" id="{8B2BB28A-B23E-DE95-5577-1A0A47E38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:notes">
            <a:extLst>
              <a:ext uri="{FF2B5EF4-FFF2-40B4-BE49-F238E27FC236}">
                <a16:creationId xmlns:a16="http://schemas.microsoft.com/office/drawing/2014/main" id="{A25DB72E-3972-1F96-7F78-0DB4DB5C15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8027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5EAE780-B840-EAA0-7585-A94803F30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>
            <a:extLst>
              <a:ext uri="{FF2B5EF4-FFF2-40B4-BE49-F238E27FC236}">
                <a16:creationId xmlns:a16="http://schemas.microsoft.com/office/drawing/2014/main" id="{C8E03B74-7544-5567-F434-40E7E1A0B2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:notes">
            <a:extLst>
              <a:ext uri="{FF2B5EF4-FFF2-40B4-BE49-F238E27FC236}">
                <a16:creationId xmlns:a16="http://schemas.microsoft.com/office/drawing/2014/main" id="{2D8F3621-DD24-BAF3-C6BE-B9A0B4D44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351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7555632-30EB-BD31-34A8-14874A403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>
            <a:extLst>
              <a:ext uri="{FF2B5EF4-FFF2-40B4-BE49-F238E27FC236}">
                <a16:creationId xmlns:a16="http://schemas.microsoft.com/office/drawing/2014/main" id="{56FA0287-DEAB-44FC-1D8C-3C7B6FEAC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:notes">
            <a:extLst>
              <a:ext uri="{FF2B5EF4-FFF2-40B4-BE49-F238E27FC236}">
                <a16:creationId xmlns:a16="http://schemas.microsoft.com/office/drawing/2014/main" id="{03CD7652-8989-C8DE-11CF-C1754B4BBA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45336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A54FF60-3C41-E1FF-4630-73EF347F6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>
            <a:extLst>
              <a:ext uri="{FF2B5EF4-FFF2-40B4-BE49-F238E27FC236}">
                <a16:creationId xmlns:a16="http://schemas.microsoft.com/office/drawing/2014/main" id="{66FDFF8E-4811-390B-191E-FD0018FBAE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:notes">
            <a:extLst>
              <a:ext uri="{FF2B5EF4-FFF2-40B4-BE49-F238E27FC236}">
                <a16:creationId xmlns:a16="http://schemas.microsoft.com/office/drawing/2014/main" id="{F2761226-9818-4DEB-02EF-5DA4480FE0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2964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917244" y="326262"/>
            <a:ext cx="8475802" cy="98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2663825" y="1475232"/>
            <a:ext cx="6864349" cy="2798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7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7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7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7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7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7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7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7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7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7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7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7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7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7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7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7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917244" y="326262"/>
            <a:ext cx="8475802" cy="98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7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7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7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7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7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7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7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7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917244" y="326262"/>
            <a:ext cx="8475802" cy="98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7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7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7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7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7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7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7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7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7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7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7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7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7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7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7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7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1920" y="0"/>
            <a:ext cx="11948160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917244" y="326262"/>
            <a:ext cx="8475802" cy="98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2663825" y="1475232"/>
            <a:ext cx="6864349" cy="2798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7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7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7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7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7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7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7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7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7"/>
          <p:cNvGrpSpPr/>
          <p:nvPr/>
        </p:nvGrpSpPr>
        <p:grpSpPr>
          <a:xfrm>
            <a:off x="0" y="5900928"/>
            <a:ext cx="12192000" cy="957199"/>
            <a:chOff x="0" y="5900928"/>
            <a:chExt cx="12192000" cy="957199"/>
          </a:xfrm>
        </p:grpSpPr>
        <p:sp>
          <p:nvSpPr>
            <p:cNvPr id="45" name="Google Shape;45;p7"/>
            <p:cNvSpPr/>
            <p:nvPr/>
          </p:nvSpPr>
          <p:spPr>
            <a:xfrm>
              <a:off x="0" y="6053328"/>
              <a:ext cx="12192000" cy="439420"/>
            </a:xfrm>
            <a:custGeom>
              <a:avLst/>
              <a:gdLst/>
              <a:ahLst/>
              <a:cxnLst/>
              <a:rect l="l" t="t" r="r" b="b"/>
              <a:pathLst>
                <a:path w="12192000" h="439420" extrusionOk="0">
                  <a:moveTo>
                    <a:pt x="12192000" y="0"/>
                  </a:moveTo>
                  <a:lnTo>
                    <a:pt x="0" y="0"/>
                  </a:lnTo>
                  <a:lnTo>
                    <a:pt x="0" y="438912"/>
                  </a:lnTo>
                  <a:lnTo>
                    <a:pt x="12192000" y="4389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" name="Google Shape;46;p7"/>
            <p:cNvSpPr/>
            <p:nvPr/>
          </p:nvSpPr>
          <p:spPr>
            <a:xfrm>
              <a:off x="301752" y="5900928"/>
              <a:ext cx="45720" cy="615950"/>
            </a:xfrm>
            <a:custGeom>
              <a:avLst/>
              <a:gdLst/>
              <a:ahLst/>
              <a:cxnLst/>
              <a:rect l="l" t="t" r="r" b="b"/>
              <a:pathLst>
                <a:path w="45720" h="615950" extrusionOk="0">
                  <a:moveTo>
                    <a:pt x="45720" y="0"/>
                  </a:moveTo>
                  <a:lnTo>
                    <a:pt x="0" y="0"/>
                  </a:lnTo>
                  <a:lnTo>
                    <a:pt x="0" y="615696"/>
                  </a:lnTo>
                  <a:lnTo>
                    <a:pt x="45720" y="615696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" name="Google Shape;47;p7"/>
            <p:cNvSpPr/>
            <p:nvPr/>
          </p:nvSpPr>
          <p:spPr>
            <a:xfrm>
              <a:off x="9506711" y="5940552"/>
              <a:ext cx="1292860" cy="917575"/>
            </a:xfrm>
            <a:custGeom>
              <a:avLst/>
              <a:gdLst/>
              <a:ahLst/>
              <a:cxnLst/>
              <a:rect l="l" t="t" r="r" b="b"/>
              <a:pathLst>
                <a:path w="1292859" h="917575" extrusionOk="0">
                  <a:moveTo>
                    <a:pt x="1292352" y="0"/>
                  </a:moveTo>
                  <a:lnTo>
                    <a:pt x="0" y="0"/>
                  </a:lnTo>
                  <a:lnTo>
                    <a:pt x="0" y="917448"/>
                  </a:lnTo>
                  <a:lnTo>
                    <a:pt x="268673" y="917448"/>
                  </a:lnTo>
                  <a:lnTo>
                    <a:pt x="1292352" y="0"/>
                  </a:lnTo>
                  <a:close/>
                </a:path>
              </a:pathLst>
            </a:custGeom>
            <a:solidFill>
              <a:srgbClr val="F1F1F1">
                <a:alpha val="1647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48" name="Google Shape;48;p7"/>
          <p:cNvGrpSpPr/>
          <p:nvPr/>
        </p:nvGrpSpPr>
        <p:grpSpPr>
          <a:xfrm>
            <a:off x="2697479" y="0"/>
            <a:ext cx="9495028" cy="5788660"/>
            <a:chOff x="2697479" y="0"/>
            <a:chExt cx="9495028" cy="5788660"/>
          </a:xfrm>
        </p:grpSpPr>
        <p:sp>
          <p:nvSpPr>
            <p:cNvPr id="49" name="Google Shape;49;p7"/>
            <p:cNvSpPr/>
            <p:nvPr/>
          </p:nvSpPr>
          <p:spPr>
            <a:xfrm>
              <a:off x="7043927" y="0"/>
              <a:ext cx="5148580" cy="5788660"/>
            </a:xfrm>
            <a:custGeom>
              <a:avLst/>
              <a:gdLst/>
              <a:ahLst/>
              <a:cxnLst/>
              <a:rect l="l" t="t" r="r" b="b"/>
              <a:pathLst>
                <a:path w="5148580" h="5788660" extrusionOk="0">
                  <a:moveTo>
                    <a:pt x="5148072" y="0"/>
                  </a:moveTo>
                  <a:lnTo>
                    <a:pt x="5091764" y="0"/>
                  </a:lnTo>
                  <a:lnTo>
                    <a:pt x="0" y="5788152"/>
                  </a:lnTo>
                  <a:lnTo>
                    <a:pt x="5148072" y="5788152"/>
                  </a:lnTo>
                  <a:lnTo>
                    <a:pt x="5148072" y="0"/>
                  </a:lnTo>
                  <a:close/>
                </a:path>
              </a:pathLst>
            </a:custGeom>
            <a:solidFill>
              <a:srgbClr val="F1F1F1">
                <a:alpha val="1647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50" name="Google Shape;50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97479" y="1475232"/>
              <a:ext cx="6830568" cy="27980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2663825" y="1475232"/>
            <a:ext cx="6864349" cy="2798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250" rIns="0" bIns="0" anchor="t" anchorCtr="0">
            <a:spAutoFit/>
          </a:bodyPr>
          <a:lstStyle/>
          <a:p>
            <a:pPr marL="330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Submitted in the partial fulfillment for the award of</a:t>
            </a:r>
            <a:endParaRPr/>
          </a:p>
          <a:p>
            <a:pPr marL="33020" lvl="0" indent="0" algn="ctr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None/>
            </a:pPr>
            <a:r>
              <a:rPr lang="en-US"/>
              <a:t>the degree of</a:t>
            </a:r>
            <a:endParaRPr/>
          </a:p>
          <a:p>
            <a:pPr marL="33020" lvl="0" indent="0" algn="ctr" rtl="0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None/>
            </a:pPr>
            <a:r>
              <a:rPr lang="en-US" b="1" i="0">
                <a:latin typeface="Calibri"/>
                <a:ea typeface="Calibri"/>
                <a:cs typeface="Calibri"/>
                <a:sym typeface="Calibri"/>
              </a:rPr>
              <a:t>BACHELOR OF ENGINEERING</a:t>
            </a:r>
            <a:endParaRPr/>
          </a:p>
          <a:p>
            <a:pPr marL="100330" lvl="0" indent="0" algn="ctr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None/>
            </a:pPr>
            <a:r>
              <a:rPr lang="en-US"/>
              <a:t>IN</a:t>
            </a:r>
            <a:endParaRPr/>
          </a:p>
          <a:p>
            <a:pPr marL="34290" lvl="0" indent="0" algn="ctr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None/>
            </a:pPr>
            <a:r>
              <a:rPr lang="en-US" b="1" i="0">
                <a:latin typeface="Calibri"/>
                <a:ea typeface="Calibri"/>
                <a:cs typeface="Calibri"/>
                <a:sym typeface="Calibri"/>
              </a:rPr>
              <a:t>Cloud Computing</a:t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942428" y="5336062"/>
            <a:ext cx="2249805" cy="1522095"/>
          </a:xfrm>
          <a:custGeom>
            <a:avLst/>
            <a:gdLst/>
            <a:ahLst/>
            <a:cxnLst/>
            <a:rect l="l" t="t" r="r" b="b"/>
            <a:pathLst>
              <a:path w="2249804" h="1522095" extrusionOk="0">
                <a:moveTo>
                  <a:pt x="2249570" y="0"/>
                </a:moveTo>
                <a:lnTo>
                  <a:pt x="0" y="1521937"/>
                </a:lnTo>
                <a:lnTo>
                  <a:pt x="2249570" y="1521937"/>
                </a:lnTo>
                <a:lnTo>
                  <a:pt x="224957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3" name="Google Shape;53;p7"/>
          <p:cNvSpPr txBox="1"/>
          <p:nvPr/>
        </p:nvSpPr>
        <p:spPr>
          <a:xfrm>
            <a:off x="6961758" y="6049467"/>
            <a:ext cx="294513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DISCOVER . </a:t>
            </a:r>
            <a:r>
              <a:rPr lang="en-US" sz="2000" b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LEARN </a:t>
            </a:r>
            <a:r>
              <a:rPr lang="en-US" sz="2000" b="1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. EMPOWER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6885431" y="6044184"/>
            <a:ext cx="45720" cy="368935"/>
          </a:xfrm>
          <a:custGeom>
            <a:avLst/>
            <a:gdLst/>
            <a:ahLst/>
            <a:cxnLst/>
            <a:rect l="l" t="t" r="r" b="b"/>
            <a:pathLst>
              <a:path w="45720" h="368935" extrusionOk="0">
                <a:moveTo>
                  <a:pt x="45720" y="0"/>
                </a:moveTo>
                <a:lnTo>
                  <a:pt x="0" y="0"/>
                </a:lnTo>
                <a:lnTo>
                  <a:pt x="0" y="368807"/>
                </a:lnTo>
                <a:lnTo>
                  <a:pt x="45720" y="368807"/>
                </a:lnTo>
                <a:lnTo>
                  <a:pt x="4572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5" name="Google Shape;55;p7"/>
          <p:cNvSpPr txBox="1"/>
          <p:nvPr/>
        </p:nvSpPr>
        <p:spPr>
          <a:xfrm>
            <a:off x="543559" y="6004356"/>
            <a:ext cx="319849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AIT-CSE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title"/>
          </p:nvPr>
        </p:nvSpPr>
        <p:spPr>
          <a:xfrm>
            <a:off x="400861" y="324051"/>
            <a:ext cx="10398710" cy="6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250" rIns="0" bIns="0" anchor="t" anchorCtr="0">
            <a:spAutoFit/>
          </a:bodyPr>
          <a:lstStyle/>
          <a:p>
            <a:pPr marL="14935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Arial Black"/>
                <a:ea typeface="Arial Black"/>
                <a:cs typeface="Arial Black"/>
                <a:sym typeface="Arial Black"/>
              </a:rPr>
              <a:t>AI Driven Personalized healthcare</a:t>
            </a:r>
            <a:endParaRPr sz="3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8" name="Google Shape;58;p7"/>
          <p:cNvSpPr txBox="1"/>
          <p:nvPr/>
        </p:nvSpPr>
        <p:spPr>
          <a:xfrm>
            <a:off x="517651" y="4046042"/>
            <a:ext cx="150622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Submitted by: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 txBox="1"/>
          <p:nvPr/>
        </p:nvSpPr>
        <p:spPr>
          <a:xfrm>
            <a:off x="517651" y="4351401"/>
            <a:ext cx="5694680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Ishita Mullick(22BCC70001)	Mob no.:9123142175 Udita Thakur(22BCC70011) Mob no.:9431766470 Hritik Kumar Singh(22BCC70039) Mob no.:9523582851 Priyanshu Jha (22BCC70040) Mob no.:7827976806 Nigmanshu Jha(22BCC70073) Mob no.:7011913402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 txBox="1"/>
          <p:nvPr/>
        </p:nvSpPr>
        <p:spPr>
          <a:xfrm>
            <a:off x="7522843" y="4382846"/>
            <a:ext cx="4151505" cy="31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Subject: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Capstone Project-1(22CSR399)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 txBox="1"/>
          <p:nvPr/>
        </p:nvSpPr>
        <p:spPr>
          <a:xfrm>
            <a:off x="7522843" y="4753709"/>
            <a:ext cx="2723515" cy="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Under the Supervision of: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Kamaljit Singh Saini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(E3040)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917244" y="326262"/>
            <a:ext cx="8475802" cy="817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375" rIns="0" bIns="0" anchor="t" anchorCtr="0">
            <a:spAutoFit/>
          </a:bodyPr>
          <a:lstStyle/>
          <a:p>
            <a:pPr marL="5968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Outline</a:t>
            </a:r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68" name="Google Shape;68;p8"/>
          <p:cNvSpPr txBox="1"/>
          <p:nvPr/>
        </p:nvSpPr>
        <p:spPr>
          <a:xfrm>
            <a:off x="917243" y="1486731"/>
            <a:ext cx="10085053" cy="4403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975" rIns="0" bIns="0" anchor="t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Introduction to Project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Problem Formulation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Objectives of the work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Methodology used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cs typeface="Times New Roman"/>
              </a:rPr>
              <a:t>Results and Outputs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cs typeface="Times New Roman"/>
              </a:rPr>
              <a:t>Conclusion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Future Scope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References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917244" y="326262"/>
            <a:ext cx="10398710" cy="629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Introduction</a:t>
            </a:r>
            <a:endParaRPr sz="4000" dirty="0"/>
          </a:p>
        </p:txBody>
      </p:sp>
      <p:sp>
        <p:nvSpPr>
          <p:cNvPr id="74" name="Google Shape;74;p9"/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75" name="Google Shape;75;p9"/>
          <p:cNvSpPr txBox="1"/>
          <p:nvPr/>
        </p:nvSpPr>
        <p:spPr>
          <a:xfrm>
            <a:off x="917244" y="1378076"/>
            <a:ext cx="9903300" cy="56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225" rIns="0" bIns="0" anchor="t" anchorCtr="0">
            <a:spAutoFit/>
          </a:bodyPr>
          <a:lstStyle/>
          <a:p>
            <a:pPr marL="457200" marR="66802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Focuses on tailoring medical treatment to individual patient needs using AI technologies.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457200" marR="66802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Moves healthcare from a </a:t>
            </a:r>
            <a:r>
              <a:rPr lang="en-US" sz="2300" b="1">
                <a:latin typeface="Calibri"/>
                <a:ea typeface="Calibri"/>
                <a:cs typeface="Calibri"/>
                <a:sym typeface="Calibri"/>
              </a:rPr>
              <a:t>reactive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to a </a:t>
            </a:r>
            <a:r>
              <a:rPr lang="en-US" sz="2300" b="1">
                <a:latin typeface="Calibri"/>
                <a:ea typeface="Calibri"/>
                <a:cs typeface="Calibri"/>
                <a:sym typeface="Calibri"/>
              </a:rPr>
              <a:t>proactive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model.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457200" marR="66802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Utilizes </a:t>
            </a:r>
            <a:r>
              <a:rPr lang="en-US" sz="2300" b="1"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to analyze large volumes of personal health data (EHRs, genomics, lifestyle, etc.).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457200" marR="66802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Employs </a:t>
            </a:r>
            <a:r>
              <a:rPr lang="en-US" sz="2300" b="1">
                <a:latin typeface="Calibri"/>
                <a:ea typeface="Calibri"/>
                <a:cs typeface="Calibri"/>
                <a:sym typeface="Calibri"/>
              </a:rPr>
              <a:t>IoT devices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(wearables, sensors) for real-time health monitoring.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457200" marR="668020" lvl="0" indent="-37465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•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Applies </a:t>
            </a: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Blockchain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secure, decentralized, and tamper-proof health data management.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668020" lvl="0" indent="-37465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•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Enhances </a:t>
            </a: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disease detection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predictive analytics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treatment accuracy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668020" lvl="0" indent="-37465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•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Aims to improve </a:t>
            </a: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 outcomes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healthcare costs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ensure </a:t>
            </a: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privacy.</a:t>
            </a:r>
            <a:endParaRPr sz="23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668020" lvl="0" indent="-37465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•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Integrates multiple emerging technologies to create a smart, personalized healthcare ecosystem.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0" marR="668020" lvl="0" indent="0" algn="l" rtl="0">
              <a:lnSpc>
                <a:spcPct val="107857"/>
              </a:lnSpc>
              <a:spcBef>
                <a:spcPts val="490"/>
              </a:spcBef>
              <a:spcAft>
                <a:spcPts val="0"/>
              </a:spcAft>
              <a:buNone/>
            </a:pP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917244" y="326262"/>
            <a:ext cx="8475900" cy="9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03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Formulation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82" name="Google Shape;82;p10"/>
          <p:cNvSpPr txBox="1"/>
          <p:nvPr/>
        </p:nvSpPr>
        <p:spPr>
          <a:xfrm>
            <a:off x="802125" y="1815929"/>
            <a:ext cx="9488700" cy="44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3365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Generic treatment plans often overlook individual variations in genetics, lifestyle, and medical history.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Lack of continuous, real-time monitoring leads to delayed diagnosis and intervention.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marR="72644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 data is fragmented across platforms, raising security and privacy concerns.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Rising healthcare costs are a major concern worldwide.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508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of personalized health management strategies specially for Chronic disease.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>
            <a:spLocks noGrp="1"/>
          </p:cNvSpPr>
          <p:nvPr>
            <p:ph type="title"/>
          </p:nvPr>
        </p:nvSpPr>
        <p:spPr>
          <a:xfrm>
            <a:off x="914400" y="0"/>
            <a:ext cx="8475802" cy="98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Objectives of the Work</a:t>
            </a:r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89" name="Google Shape;89;p11"/>
          <p:cNvSpPr txBox="1"/>
          <p:nvPr/>
        </p:nvSpPr>
        <p:spPr>
          <a:xfrm>
            <a:off x="762000" y="1308426"/>
            <a:ext cx="9993600" cy="6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875" rIns="0" bIns="0" anchor="t" anchorCtr="0">
            <a:spAutoFit/>
          </a:bodyPr>
          <a:lstStyle/>
          <a:p>
            <a:pPr marL="240029" marR="131445" lvl="0" indent="-2273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To develop a framework for AI-driven personalized diagnosis and treatment recommendations.</a:t>
            </a:r>
            <a:endParaRPr/>
          </a:p>
          <a:p>
            <a:pPr marL="240029" marR="131445" lvl="0" indent="-495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40029" marR="131445" lvl="0" indent="-2273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To integrate IoT devices for real-time patient health monitoring.</a:t>
            </a:r>
            <a:endParaRPr/>
          </a:p>
          <a:p>
            <a:pPr marL="240029" marR="131445" lvl="0" indent="-495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40029" marR="131445" lvl="0" indent="-2273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utilize Blockchain for secure, tamper-proof storage and sharing of health data.</a:t>
            </a:r>
            <a:endParaRPr/>
          </a:p>
          <a:p>
            <a:pPr marL="240029" marR="131445" lvl="0" indent="-495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0029" marR="131445" lvl="0" indent="-2273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To improve predictive analytics for early detection of diseases.</a:t>
            </a:r>
            <a:endParaRPr/>
          </a:p>
          <a:p>
            <a:pPr marL="240029" marR="131445" lvl="0" indent="-495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40029" marR="131445" lvl="0" indent="-2273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To reduce overall treatment costs by enhancing accuracy and efficiency in healthcare delivery.</a:t>
            </a:r>
            <a:endParaRPr/>
          </a:p>
          <a:p>
            <a:pPr marL="240029" marR="131445" lvl="0" indent="-495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0029" marR="131445" lvl="0" indent="-495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 txBox="1">
            <a:spLocks noGrp="1"/>
          </p:cNvSpPr>
          <p:nvPr>
            <p:ph type="title"/>
          </p:nvPr>
        </p:nvSpPr>
        <p:spPr>
          <a:xfrm>
            <a:off x="1004619" y="381000"/>
            <a:ext cx="8475802" cy="98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Methodology used</a:t>
            </a:r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96" name="Google Shape;96;p12"/>
          <p:cNvSpPr txBox="1"/>
          <p:nvPr/>
        </p:nvSpPr>
        <p:spPr>
          <a:xfrm>
            <a:off x="1004619" y="1676400"/>
            <a:ext cx="10279500" cy="47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9525" rIns="0" bIns="0" anchor="t" anchorCtr="0">
            <a:spAutoFit/>
          </a:bodyPr>
          <a:lstStyle/>
          <a:p>
            <a:pPr marL="3429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Data Collection &amp; Preprocessing: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ourier New"/>
              <a:buChar char="o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Patient data sourced from EHRs, wearable IoT sensors, and genomic databases.</a:t>
            </a:r>
            <a:endParaRPr sz="2800"/>
          </a:p>
          <a:p>
            <a:pPr marL="3429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ourier New"/>
              <a:buChar char="o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Cleaned, anonymized, and standardized for AI model input.</a:t>
            </a:r>
            <a:endParaRPr sz="2800"/>
          </a:p>
          <a:p>
            <a:pPr marL="34290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AI Techniques: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ourier New"/>
              <a:buChar char="o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Machine Learning for prediction and risk assessment.</a:t>
            </a:r>
            <a:endParaRPr sz="2800"/>
          </a:p>
          <a:p>
            <a:pPr marL="3429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ourier New"/>
              <a:buChar char="o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Deep Learning models (e.g., CNN, LSTM) for analyzing complex health data like medical images or ECG signals.</a:t>
            </a:r>
            <a:endParaRPr sz="2800"/>
          </a:p>
          <a:p>
            <a:pPr marL="3429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ourier New"/>
              <a:buChar char="o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NLP for processing doctor notes and health records.</a:t>
            </a:r>
            <a:endParaRPr sz="2800"/>
          </a:p>
          <a:p>
            <a:pPr marL="69786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title"/>
          </p:nvPr>
        </p:nvSpPr>
        <p:spPr>
          <a:xfrm>
            <a:off x="917244" y="326262"/>
            <a:ext cx="8475802" cy="98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Methodology used</a:t>
            </a:r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917244" y="1501255"/>
            <a:ext cx="9840595" cy="451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/>
              <a:t>IoT Integration:</a:t>
            </a:r>
            <a:endParaRPr sz="2400"/>
          </a:p>
          <a:p>
            <a:pPr marL="342900" lvl="2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Courier New"/>
              <a:buChar char="o"/>
            </a:pPr>
            <a:r>
              <a:rPr lang="en-US" sz="2400"/>
              <a:t>Use of wearable devices for continuous data streaming (e.g., heart rate, glucose levels).</a:t>
            </a:r>
            <a:endParaRPr/>
          </a:p>
          <a:p>
            <a:pPr marL="342900" lvl="2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Courier New"/>
              <a:buChar char="o"/>
            </a:pPr>
            <a:r>
              <a:rPr lang="en-US" sz="2400"/>
              <a:t>Real-time monitoring for immediate alerts and long-term trends.</a:t>
            </a:r>
            <a:endParaRPr/>
          </a:p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endParaRPr sz="2400" b="1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/>
              <a:t>Blockchain Implementation:</a:t>
            </a:r>
            <a:endParaRPr sz="240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Courier New"/>
              <a:buChar char="o"/>
            </a:pPr>
            <a:r>
              <a:rPr lang="en-US" sz="2400"/>
              <a:t>Securing health records with decentralized encryption.</a:t>
            </a:r>
            <a:endParaRPr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Courier New"/>
              <a:buChar char="o"/>
            </a:pPr>
            <a:r>
              <a:rPr lang="en-US" sz="2400"/>
              <a:t>Smart contracts for automated consent and data sharing.</a:t>
            </a:r>
            <a:endParaRPr/>
          </a:p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endParaRPr sz="240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/>
              <a:t>Evaluation:</a:t>
            </a:r>
            <a:endParaRPr sz="2400"/>
          </a:p>
          <a:p>
            <a:pPr marL="342900" lvl="1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Courier New"/>
              <a:buChar char="o"/>
            </a:pPr>
            <a:r>
              <a:rPr lang="en-US" sz="2400"/>
              <a:t>Accuracy, sensitivity, and specificity metrics for model performance.</a:t>
            </a:r>
            <a:endParaRPr/>
          </a:p>
          <a:p>
            <a:pPr marL="342900" lvl="1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Courier New"/>
              <a:buChar char="o"/>
            </a:pPr>
            <a:r>
              <a:rPr lang="en-US" sz="2400"/>
              <a:t>Case studies and simulations for real-world applicability.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CB6E69D-A49D-E75F-9F09-34A71DD10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>
            <a:extLst>
              <a:ext uri="{FF2B5EF4-FFF2-40B4-BE49-F238E27FC236}">
                <a16:creationId xmlns:a16="http://schemas.microsoft.com/office/drawing/2014/main" id="{85C94D4C-08CE-B690-88CF-D43E7D18BF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4" y="326262"/>
            <a:ext cx="8475802" cy="98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 and Output</a:t>
            </a:r>
            <a:endParaRPr dirty="0"/>
          </a:p>
        </p:txBody>
      </p:sp>
      <p:sp>
        <p:nvSpPr>
          <p:cNvPr id="102" name="Google Shape;102;p13">
            <a:extLst>
              <a:ext uri="{FF2B5EF4-FFF2-40B4-BE49-F238E27FC236}">
                <a16:creationId xmlns:a16="http://schemas.microsoft.com/office/drawing/2014/main" id="{6196C78B-B82C-9999-08AE-448879C94B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03" name="Google Shape;103;p13">
            <a:extLst>
              <a:ext uri="{FF2B5EF4-FFF2-40B4-BE49-F238E27FC236}">
                <a16:creationId xmlns:a16="http://schemas.microsoft.com/office/drawing/2014/main" id="{F768AF78-6158-2652-5085-5AB1FBDAED48}"/>
              </a:ext>
            </a:extLst>
          </p:cNvPr>
          <p:cNvSpPr txBox="1"/>
          <p:nvPr/>
        </p:nvSpPr>
        <p:spPr>
          <a:xfrm>
            <a:off x="917244" y="1501255"/>
            <a:ext cx="9840595" cy="3410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Successfully conceptualized an </a:t>
            </a:r>
            <a:r>
              <a:rPr lang="en-IN" sz="2400" b="1" dirty="0"/>
              <a:t>AI-driven, patient-centric healthcare framework</a:t>
            </a:r>
            <a:r>
              <a:rPr lang="en-IN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Developed design architecture integrating:</a:t>
            </a:r>
          </a:p>
          <a:p>
            <a:pPr lvl="8"/>
            <a:r>
              <a:rPr lang="en-IN" sz="2400" dirty="0"/>
              <a:t>      -Predictive analytics for early diagnosis</a:t>
            </a:r>
          </a:p>
          <a:p>
            <a:pPr lvl="8"/>
            <a:r>
              <a:rPr lang="en-IN" sz="2400" dirty="0"/>
              <a:t>      -Intelligent decision support for clinicians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Demonstrated how AI can improve:</a:t>
            </a:r>
          </a:p>
          <a:p>
            <a:pPr lvl="4"/>
            <a:r>
              <a:rPr lang="en-IN" sz="2400" dirty="0"/>
              <a:t>      -Diagnostic accuracy</a:t>
            </a:r>
          </a:p>
          <a:p>
            <a:pPr lvl="5"/>
            <a:r>
              <a:rPr lang="en-IN" sz="2400" dirty="0"/>
              <a:t>      -Resource efficiency</a:t>
            </a:r>
          </a:p>
          <a:p>
            <a:pPr lvl="5"/>
            <a:r>
              <a:rPr lang="en-IN" sz="2400" dirty="0"/>
              <a:t>      -Patient satisfaction</a:t>
            </a:r>
          </a:p>
        </p:txBody>
      </p:sp>
    </p:spTree>
    <p:extLst>
      <p:ext uri="{BB962C8B-B14F-4D97-AF65-F5344CB8AC3E}">
        <p14:creationId xmlns:p14="http://schemas.microsoft.com/office/powerpoint/2010/main" val="1047121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2191E44-038B-9B58-3A30-344F30A2A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>
            <a:extLst>
              <a:ext uri="{FF2B5EF4-FFF2-40B4-BE49-F238E27FC236}">
                <a16:creationId xmlns:a16="http://schemas.microsoft.com/office/drawing/2014/main" id="{C6E436DF-9948-FD8A-7DE7-10467C5090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4" y="326262"/>
            <a:ext cx="8475802" cy="98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 and Output</a:t>
            </a:r>
            <a:endParaRPr dirty="0"/>
          </a:p>
        </p:txBody>
      </p:sp>
      <p:sp>
        <p:nvSpPr>
          <p:cNvPr id="102" name="Google Shape;102;p13">
            <a:extLst>
              <a:ext uri="{FF2B5EF4-FFF2-40B4-BE49-F238E27FC236}">
                <a16:creationId xmlns:a16="http://schemas.microsoft.com/office/drawing/2014/main" id="{5FBDEB3D-9405-48A4-932F-58F7BE6999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03" name="Google Shape;103;p13">
            <a:extLst>
              <a:ext uri="{FF2B5EF4-FFF2-40B4-BE49-F238E27FC236}">
                <a16:creationId xmlns:a16="http://schemas.microsoft.com/office/drawing/2014/main" id="{826A51A3-960D-0653-0294-689FCC96A26C}"/>
              </a:ext>
            </a:extLst>
          </p:cNvPr>
          <p:cNvSpPr txBox="1"/>
          <p:nvPr/>
        </p:nvSpPr>
        <p:spPr>
          <a:xfrm>
            <a:off x="917244" y="1501255"/>
            <a:ext cx="9840595" cy="2302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Achieved balance between </a:t>
            </a:r>
            <a:r>
              <a:rPr lang="en-US" sz="2400" b="1" dirty="0"/>
              <a:t>automation and empathy</a:t>
            </a:r>
            <a:r>
              <a:rPr lang="en-US" sz="2400" dirty="0"/>
              <a:t> in care delivery.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Prototype simulation showed: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25–30% reduction in diagnostic delays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Improved doctor–patient communication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Higher system adaptability and learning over time</a:t>
            </a:r>
          </a:p>
        </p:txBody>
      </p:sp>
    </p:spTree>
    <p:extLst>
      <p:ext uri="{BB962C8B-B14F-4D97-AF65-F5344CB8AC3E}">
        <p14:creationId xmlns:p14="http://schemas.microsoft.com/office/powerpoint/2010/main" val="474344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0EF9A5D-9F45-619C-B22D-422AE926C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>
            <a:extLst>
              <a:ext uri="{FF2B5EF4-FFF2-40B4-BE49-F238E27FC236}">
                <a16:creationId xmlns:a16="http://schemas.microsoft.com/office/drawing/2014/main" id="{5B99A52C-FFFA-A27A-8A83-356E089FCD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4" y="326262"/>
            <a:ext cx="8475802" cy="98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102" name="Google Shape;102;p13">
            <a:extLst>
              <a:ext uri="{FF2B5EF4-FFF2-40B4-BE49-F238E27FC236}">
                <a16:creationId xmlns:a16="http://schemas.microsoft.com/office/drawing/2014/main" id="{A377FEF1-B43D-CC82-382B-7892680D14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03" name="Google Shape;103;p13">
            <a:extLst>
              <a:ext uri="{FF2B5EF4-FFF2-40B4-BE49-F238E27FC236}">
                <a16:creationId xmlns:a16="http://schemas.microsoft.com/office/drawing/2014/main" id="{01986F5B-1463-7193-E906-9F47F86D08EB}"/>
              </a:ext>
            </a:extLst>
          </p:cNvPr>
          <p:cNvSpPr txBox="1"/>
          <p:nvPr/>
        </p:nvSpPr>
        <p:spPr>
          <a:xfrm>
            <a:off x="917244" y="1501255"/>
            <a:ext cx="9840595" cy="3410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Medisoul</a:t>
            </a:r>
            <a:r>
              <a:rPr lang="en-US" sz="2400" dirty="0"/>
              <a:t> proves that healthcare intelligence can be both </a:t>
            </a:r>
            <a:r>
              <a:rPr lang="en-US" sz="2400" b="1" dirty="0"/>
              <a:t>technological and compassionate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Combines </a:t>
            </a:r>
            <a:r>
              <a:rPr lang="en-US" sz="2400" b="1" dirty="0"/>
              <a:t>AI algorithms</a:t>
            </a:r>
            <a:r>
              <a:rPr lang="en-US" sz="2400" dirty="0"/>
              <a:t> with </a:t>
            </a:r>
            <a:r>
              <a:rPr lang="en-US" sz="2400" b="1" dirty="0"/>
              <a:t>human empathy</a:t>
            </a:r>
            <a:r>
              <a:rPr lang="en-US" sz="2400" dirty="0"/>
              <a:t> to deliver personalized and ethical healthcare.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Promotes data-driven decisions while maintaining the </a:t>
            </a:r>
            <a:r>
              <a:rPr lang="en-US" sz="2400" b="1" dirty="0"/>
              <a:t>“soul”</a:t>
            </a:r>
            <a:r>
              <a:rPr lang="en-US" sz="2400" dirty="0"/>
              <a:t> of medicine.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Reinforces that technology should </a:t>
            </a:r>
            <a:r>
              <a:rPr lang="en-US" sz="2400" b="1" dirty="0"/>
              <a:t>support</a:t>
            </a:r>
            <a:r>
              <a:rPr lang="en-US" sz="2400" dirty="0"/>
              <a:t>, not </a:t>
            </a:r>
            <a:r>
              <a:rPr lang="en-US" sz="2400" b="1" dirty="0"/>
              <a:t>replace</a:t>
            </a:r>
            <a:r>
              <a:rPr lang="en-US" sz="2400" dirty="0"/>
              <a:t>, healthcare professionals.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Sets a foundation for next-generation healthcare innovation.</a:t>
            </a:r>
          </a:p>
        </p:txBody>
      </p:sp>
    </p:spTree>
    <p:extLst>
      <p:ext uri="{BB962C8B-B14F-4D97-AF65-F5344CB8AC3E}">
        <p14:creationId xmlns:p14="http://schemas.microsoft.com/office/powerpoint/2010/main" val="1931700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6967A13-2CD9-5381-1155-E8E90FDAC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>
            <a:extLst>
              <a:ext uri="{FF2B5EF4-FFF2-40B4-BE49-F238E27FC236}">
                <a16:creationId xmlns:a16="http://schemas.microsoft.com/office/drawing/2014/main" id="{054F08F8-8C1D-1311-04C4-9F26B55BC4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4" y="326262"/>
            <a:ext cx="8475802" cy="98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Future Scope</a:t>
            </a:r>
            <a:endParaRPr dirty="0"/>
          </a:p>
        </p:txBody>
      </p:sp>
      <p:sp>
        <p:nvSpPr>
          <p:cNvPr id="102" name="Google Shape;102;p13">
            <a:extLst>
              <a:ext uri="{FF2B5EF4-FFF2-40B4-BE49-F238E27FC236}">
                <a16:creationId xmlns:a16="http://schemas.microsoft.com/office/drawing/2014/main" id="{B380903D-5CE0-C280-59C7-9C41FCEF01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03" name="Google Shape;103;p13">
            <a:extLst>
              <a:ext uri="{FF2B5EF4-FFF2-40B4-BE49-F238E27FC236}">
                <a16:creationId xmlns:a16="http://schemas.microsoft.com/office/drawing/2014/main" id="{8E32EC6A-E21D-3BAD-CC4D-C7618C0EF5E9}"/>
              </a:ext>
            </a:extLst>
          </p:cNvPr>
          <p:cNvSpPr txBox="1"/>
          <p:nvPr/>
        </p:nvSpPr>
        <p:spPr>
          <a:xfrm>
            <a:off x="917244" y="1501255"/>
            <a:ext cx="9840595" cy="377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Integration with real-time </a:t>
            </a:r>
            <a:r>
              <a:rPr lang="en-US" sz="2400" b="1" dirty="0"/>
              <a:t>IoT medical devices</a:t>
            </a:r>
            <a:r>
              <a:rPr lang="en-US" sz="2400" dirty="0"/>
              <a:t> for live patient monitoring.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Inclusion of </a:t>
            </a:r>
            <a:r>
              <a:rPr lang="en-US" sz="2400" b="1" dirty="0"/>
              <a:t>deep learning models</a:t>
            </a:r>
            <a:r>
              <a:rPr lang="en-US" sz="2400" dirty="0"/>
              <a:t> for advanced disease prediction.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Expansion to </a:t>
            </a:r>
            <a:r>
              <a:rPr lang="en-US" sz="2400" b="1" dirty="0"/>
              <a:t>telemedicine</a:t>
            </a:r>
            <a:r>
              <a:rPr lang="en-US" sz="2400" dirty="0"/>
              <a:t> and </a:t>
            </a:r>
            <a:r>
              <a:rPr lang="en-US" sz="2400" b="1" dirty="0"/>
              <a:t>remote healthcare systems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Development of </a:t>
            </a:r>
            <a:r>
              <a:rPr lang="en-US" sz="2400" b="1" dirty="0"/>
              <a:t>multi-language AI assistants</a:t>
            </a:r>
            <a:r>
              <a:rPr lang="en-US" sz="2400" dirty="0"/>
              <a:t> for rural and global reach.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Collaboration with hospitals for pilot testing and clinical validation.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Continuous improvement through </a:t>
            </a:r>
            <a:r>
              <a:rPr lang="en-US" sz="2400" b="1" dirty="0"/>
              <a:t>machine learning feedback loops</a:t>
            </a:r>
            <a:r>
              <a:rPr lang="en-US" sz="2400" dirty="0"/>
              <a:t>.</a:t>
            </a:r>
          </a:p>
          <a:p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01703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9D788D6-D1DB-AEB5-BFB4-E9EDC66B3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>
            <a:extLst>
              <a:ext uri="{FF2B5EF4-FFF2-40B4-BE49-F238E27FC236}">
                <a16:creationId xmlns:a16="http://schemas.microsoft.com/office/drawing/2014/main" id="{29C436AE-389A-70CC-5506-E57104CBBC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4" y="326262"/>
            <a:ext cx="8475802" cy="98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References</a:t>
            </a:r>
            <a:endParaRPr dirty="0"/>
          </a:p>
        </p:txBody>
      </p:sp>
      <p:sp>
        <p:nvSpPr>
          <p:cNvPr id="102" name="Google Shape;102;p13">
            <a:extLst>
              <a:ext uri="{FF2B5EF4-FFF2-40B4-BE49-F238E27FC236}">
                <a16:creationId xmlns:a16="http://schemas.microsoft.com/office/drawing/2014/main" id="{1E309CBC-1DB0-EB3F-E798-17694FB676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E1A497-C03F-DFF0-CF94-5DAC0FB121D6}"/>
              </a:ext>
            </a:extLst>
          </p:cNvPr>
          <p:cNvSpPr txBox="1"/>
          <p:nvPr/>
        </p:nvSpPr>
        <p:spPr>
          <a:xfrm>
            <a:off x="917244" y="1610139"/>
            <a:ext cx="1030403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1] Flora Amato, Stefano Marrone, (2018), “Chatbots meet eHealth: automat zing healthcare”, (IRJET)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.[2] Divya, Indumathi, Ishwarya, </a:t>
            </a:r>
            <a:r>
              <a:rPr lang="en-US" sz="1800" dirty="0" err="1"/>
              <a:t>Priyasankari</a:t>
            </a:r>
            <a:r>
              <a:rPr lang="en-US" sz="1800" dirty="0"/>
              <a:t>, (2017), “A Self Diagnosis Medical Chatbot Using Artificial Intelligence”, (MAT).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[3] </a:t>
            </a:r>
            <a:r>
              <a:rPr lang="en-US" sz="1800" dirty="0" err="1"/>
              <a:t>BenildaEleonor</a:t>
            </a:r>
            <a:r>
              <a:rPr lang="en-US" sz="1800" dirty="0"/>
              <a:t> V. Comendador, (2015), “</a:t>
            </a:r>
            <a:r>
              <a:rPr lang="en-US" sz="1800" dirty="0" err="1"/>
              <a:t>Pharmabot</a:t>
            </a:r>
            <a:r>
              <a:rPr lang="en-US" sz="1800" dirty="0"/>
              <a:t>: A </a:t>
            </a:r>
            <a:r>
              <a:rPr lang="en-US" sz="1800" dirty="0" err="1"/>
              <a:t>paediatric</a:t>
            </a:r>
            <a:r>
              <a:rPr lang="en-US" sz="1800" dirty="0"/>
              <a:t> generic Medicine consultant Chatbot”, (JACE).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[4] Tobias </a:t>
            </a:r>
            <a:r>
              <a:rPr lang="en-US" sz="1800" dirty="0" err="1"/>
              <a:t>Kowatsch</a:t>
            </a:r>
            <a:r>
              <a:rPr lang="en-US" sz="1800" dirty="0"/>
              <a:t>, (2017), “Text-based Healthcare Chatbots Supporting Patient and Health”, (PEACH).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[5] K. Oh, D. Lee, B. Ko and H. Choi, (2017), “A Chatbot for Psychiatric Counselling in Mental Healthcare Service Based on Emotional Dialogue Analysis and Sentence Generation”, (IEEE).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[6] Du Preez, S.J. &amp; Lall, Manoj &amp; Sinha, S, (2009), “An intelligent web-based voice chat bot”, (EURCON).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533331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922428D-A315-2CBD-97A8-1245D9E46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>
            <a:extLst>
              <a:ext uri="{FF2B5EF4-FFF2-40B4-BE49-F238E27FC236}">
                <a16:creationId xmlns:a16="http://schemas.microsoft.com/office/drawing/2014/main" id="{204333A4-1180-D43C-B36A-20E871B389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4" y="326262"/>
            <a:ext cx="8475802" cy="98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References</a:t>
            </a:r>
            <a:endParaRPr dirty="0"/>
          </a:p>
        </p:txBody>
      </p:sp>
      <p:sp>
        <p:nvSpPr>
          <p:cNvPr id="102" name="Google Shape;102;p13">
            <a:extLst>
              <a:ext uri="{FF2B5EF4-FFF2-40B4-BE49-F238E27FC236}">
                <a16:creationId xmlns:a16="http://schemas.microsoft.com/office/drawing/2014/main" id="{22D00C5B-DC2D-4BD8-5F48-04D1DE99F3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84F4F-7539-FB6D-3ACF-05BB7376B79C}"/>
              </a:ext>
            </a:extLst>
          </p:cNvPr>
          <p:cNvSpPr txBox="1"/>
          <p:nvPr/>
        </p:nvSpPr>
        <p:spPr>
          <a:xfrm>
            <a:off x="917244" y="1610139"/>
            <a:ext cx="10304034" cy="326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[7] Bayu </a:t>
            </a:r>
            <a:r>
              <a:rPr lang="en-US" sz="2000" dirty="0" err="1"/>
              <a:t>Setiaji</a:t>
            </a:r>
            <a:r>
              <a:rPr lang="en-US" sz="2000" dirty="0"/>
              <a:t>, Ferry Wahyu Wibowo, (2016), “Chatbot Using a Knowledge in Database: Human-to- Machine Conversation Modeling”, (ISMS).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[8] Dahiya, Menal., (2017), “A Tool of Conversation: Chatbot”, (IJCSE).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[9] C.P. </a:t>
            </a:r>
            <a:r>
              <a:rPr lang="en-US" sz="2000" dirty="0" err="1"/>
              <a:t>Shabariram</a:t>
            </a:r>
            <a:r>
              <a:rPr lang="en-US" sz="2000" dirty="0"/>
              <a:t>, V. Srinath, C.S. Indhuja, Vidhya, (2017), “Ratatta: Chatbot Application Using Expert System”, (IJCSE).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[10] Shukla, V.K, Verma, A, (2019), “Enhancing LMS Experience through AIML Base and Retrieval Base Chatbot using R Language”, (ICACTM).</a:t>
            </a:r>
          </a:p>
        </p:txBody>
      </p:sp>
    </p:spTree>
    <p:extLst>
      <p:ext uri="{BB962C8B-B14F-4D97-AF65-F5344CB8AC3E}">
        <p14:creationId xmlns:p14="http://schemas.microsoft.com/office/powerpoint/2010/main" val="4276800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BCA1D6C-2BDE-7AAB-313C-87601D068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>
            <a:extLst>
              <a:ext uri="{FF2B5EF4-FFF2-40B4-BE49-F238E27FC236}">
                <a16:creationId xmlns:a16="http://schemas.microsoft.com/office/drawing/2014/main" id="{F863648E-070A-F117-EDE2-9603CACD83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4" y="326262"/>
            <a:ext cx="8475802" cy="98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References</a:t>
            </a:r>
            <a:endParaRPr dirty="0"/>
          </a:p>
        </p:txBody>
      </p:sp>
      <p:sp>
        <p:nvSpPr>
          <p:cNvPr id="102" name="Google Shape;102;p13">
            <a:extLst>
              <a:ext uri="{FF2B5EF4-FFF2-40B4-BE49-F238E27FC236}">
                <a16:creationId xmlns:a16="http://schemas.microsoft.com/office/drawing/2014/main" id="{10235E18-AC25-FDCD-A4AC-01EC01D6AC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3C5B26-54FD-02ED-C80E-D09C0ADC049E}"/>
              </a:ext>
            </a:extLst>
          </p:cNvPr>
          <p:cNvSpPr txBox="1"/>
          <p:nvPr/>
        </p:nvSpPr>
        <p:spPr>
          <a:xfrm>
            <a:off x="917244" y="1610139"/>
            <a:ext cx="10304034" cy="4611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[11 Divya Madhu, Neeraj Jain C. J, (2017), “A Novel Approach for Medical Assistance Using Trained Chatbot”, (ICICCT).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[12] Mrs. Rashmi Dharwadkar, Dr. Mrs. Neeta A. Deshpande, (2018), “A Medical Chatbot”, (IJCTT).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[13] Nilofar </a:t>
            </a:r>
            <a:r>
              <a:rPr lang="en-US" sz="1800" dirty="0" err="1"/>
              <a:t>Hezarjaribi</a:t>
            </a:r>
            <a:r>
              <a:rPr lang="en-US" sz="1800" dirty="0"/>
              <a:t>, Sepideh </a:t>
            </a:r>
            <a:r>
              <a:rPr lang="en-US" sz="1800" dirty="0" err="1"/>
              <a:t>Mazrouee</a:t>
            </a:r>
            <a:r>
              <a:rPr lang="en-US" sz="1800" dirty="0"/>
              <a:t>, Hassan Ghasemzadeh, (2018), "Speech2Health: A Mobile Framework for Monitoring Dietary Composition from Spoken Data" (IEEE).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[14] Qiming Bao, Lin Ni, </a:t>
            </a:r>
            <a:r>
              <a:rPr lang="en-US" sz="1800" dirty="0" err="1"/>
              <a:t>Jiamou</a:t>
            </a:r>
            <a:r>
              <a:rPr lang="en-US" sz="1800" dirty="0"/>
              <a:t> Liu, (2020), “HHH: An Online Medical Chatbot System based on Knowledge Graph and Hierarchical Bi-Directional Attention”, (ACSW).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[15] Kyo-Joong Oh, </a:t>
            </a:r>
            <a:r>
              <a:rPr lang="en-US" sz="1800" dirty="0" err="1"/>
              <a:t>DongKun</a:t>
            </a:r>
            <a:r>
              <a:rPr lang="en-US" sz="1800" dirty="0"/>
              <a:t> Lee, </a:t>
            </a:r>
            <a:r>
              <a:rPr lang="en-US" sz="1800" dirty="0" err="1"/>
              <a:t>ByungSooKo</a:t>
            </a:r>
            <a:r>
              <a:rPr lang="en-US" sz="1800" dirty="0"/>
              <a:t>, Ho-Jin Choi, (2017), “A Chatbot for Psychiatric Counselling in Mental Healthcare Service Based on Emotional Dialogue Analysis and Sentence Generation”, (IEEE).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78748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01A24664BE744F92A3AB5EE8FAF557" ma:contentTypeVersion="5" ma:contentTypeDescription="Create a new document." ma:contentTypeScope="" ma:versionID="b75cb9321f69351ebde7d9ae490ed420">
  <xsd:schema xmlns:xsd="http://www.w3.org/2001/XMLSchema" xmlns:xs="http://www.w3.org/2001/XMLSchema" xmlns:p="http://schemas.microsoft.com/office/2006/metadata/properties" xmlns:ns3="020dbc39-47f6-45ab-89a8-ef50f5bc13ce" targetNamespace="http://schemas.microsoft.com/office/2006/metadata/properties" ma:root="true" ma:fieldsID="ac72dd560656f3f04b62dd499667e6e2" ns3:_="">
    <xsd:import namespace="020dbc39-47f6-45ab-89a8-ef50f5bc13c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0dbc39-47f6-45ab-89a8-ef50f5bc13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71CDE6-448A-4A37-A6A3-FA5713FFA7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0dbc39-47f6-45ab-89a8-ef50f5bc13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38D6C81-C256-4B14-84BA-820BB5752F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7BDBBF-3F02-43D6-8315-EC197BCEBFAA}">
  <ds:schemaRefs>
    <ds:schemaRef ds:uri="020dbc39-47f6-45ab-89a8-ef50f5bc13ce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1176</Words>
  <Application>Microsoft Office PowerPoint</Application>
  <PresentationFormat>Widescreen</PresentationFormat>
  <Paragraphs>130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Arial Black</vt:lpstr>
      <vt:lpstr>Courier New</vt:lpstr>
      <vt:lpstr>Trebuchet MS</vt:lpstr>
      <vt:lpstr>Arial</vt:lpstr>
      <vt:lpstr>Times New Roman</vt:lpstr>
      <vt:lpstr>Office Theme</vt:lpstr>
      <vt:lpstr>AI Driven Personalized healthcare</vt:lpstr>
      <vt:lpstr>Outline</vt:lpstr>
      <vt:lpstr>Introduction</vt:lpstr>
      <vt:lpstr>Problem Formulation</vt:lpstr>
      <vt:lpstr>Objectives of the Work</vt:lpstr>
      <vt:lpstr>Methodology used</vt:lpstr>
      <vt:lpstr>Methodology used</vt:lpstr>
      <vt:lpstr>Result and Output</vt:lpstr>
      <vt:lpstr>Result and Output</vt:lpstr>
      <vt:lpstr>Conclusion</vt:lpstr>
      <vt:lpstr>Future Scope</vt:lpstr>
      <vt:lpstr>References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Ishita Mullick</dc:creator>
  <cp:lastModifiedBy>UDITA THAKUR</cp:lastModifiedBy>
  <cp:revision>2</cp:revision>
  <dcterms:modified xsi:type="dcterms:W3CDTF">2025-10-14T18:56:30Z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0x010100AB01A24664BE744F92A3AB5EE8FAF557</vt:lpwstr>
  </property>
</Properties>
</file>